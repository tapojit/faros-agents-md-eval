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Programmatic</a:t>
            </a:r>
            <a:br/>
            <a:r>
              <a:t>AGENTS.md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 i="0">
                <a:solidFill>
                  <a:srgbClr val="00B4D8"/>
                </a:solidFill>
                <a:latin typeface="Calibri"/>
              </a:defRPr>
            </a:pPr>
            <a:r>
              <a:t>Approach, Evaluation, and Tradeoffs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Tapojit Debnath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8A9AB5"/>
                </a:solidFill>
                <a:latin typeface="Calibri"/>
              </a:defRPr>
            </a:pPr>
            <a:r>
              <a:t>Faros AI  |  AI Engineer Take-Home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1A365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  <a:latin typeface="Calibri"/>
              </a:defRPr>
            </a:pPr>
            <a:r>
              <a:t>AGENTS.md is a "README for machines"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 i="0">
                <a:solidFill>
                  <a:srgbClr val="4A5A6A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Most agents auto-generate a basic version via /init. But research (ETH Zurich, arXiv 2602.11988) shows verbose auto-generated files often hurt performance.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Goal: programmatically create a "better"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Defining "Better"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2860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91B2"/>
                </a:solidFill>
                <a:latin typeface="Consolas"/>
              </a:defRPr>
            </a:pPr>
            <a:r>
              <a:t>pass@1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Agent succeeds on first 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063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91B2"/>
                </a:solidFill>
                <a:latin typeface="Consolas"/>
              </a:defRPr>
            </a:pPr>
            <a:r>
              <a:t>total_tokens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Lower = cheaper, more efficient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404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91B2"/>
                </a:solidFill>
                <a:latin typeface="Consolas"/>
              </a:defRPr>
            </a:pPr>
            <a:r>
              <a:t>tool_calls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Fewer = agent knew what to 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1A1A2E"/>
                </a:solidFill>
                <a:latin typeface="Calibri"/>
              </a:defRPr>
            </a:pPr>
            <a:r>
              <a:t>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6177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891B2"/>
                </a:solidFill>
                <a:latin typeface="Consolas"/>
              </a:defRPr>
            </a:pPr>
            <a:r>
              <a:t>file_size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Smaller AGENTS.md = less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1A365D"/>
                </a:solidFill>
                <a:latin typeface="Calibri"/>
              </a:defRPr>
            </a:pPr>
            <a:r>
              <a:t>Approach 1: Naive AGENTS.md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645920" cy="50292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0" y="347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DISCARDED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What We Tried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 i="0">
                <a:solidFill>
                  <a:srgbClr val="4A5A6A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Generate AGENTS.md by pointing a strong model at the repo without modifying anything.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The model reads the codebase and writes build instructions based on what it finds.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Simple. No worktrees, no transcripts, no grading pipeline.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114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53E3E"/>
                </a:solidFill>
              </a:defRPr>
            </a:pPr>
            <a:r>
              <a:t>Why It Failed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 i="0">
                <a:solidFill>
                  <a:srgbClr val="4A5A6A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 i="0">
                <a:solidFill>
                  <a:srgbClr val="4A5A6A"/>
                </a:solidFill>
                <a:latin typeface="Calibri"/>
              </a:defRPr>
            </a:pPr>
            <a:r>
              <a:t>The repo was full of build hints:</a:t>
            </a:r>
          </a:p>
          <a:p>
            <a:pPr algn="l">
              <a:spcBef>
                <a:spcPts val="0"/>
              </a:spcBef>
              <a:spcAft>
                <a:spcPts val="1000"/>
              </a:spcAft>
              <a:defRPr sz="1300" b="0" i="0">
                <a:solidFill>
                  <a:srgbClr val="0891B2"/>
                </a:solidFill>
                <a:latin typeface="Consolas"/>
              </a:defRPr>
            </a:pPr>
            <a:r>
              <a:t>README, Doc/, CONTRIBUTING.md, PCbuild/*.txt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The agent just parroted in-tree docs into the AGENTS.md. A weak agent could find those same docs itself, so the AGENTS.md added zero value.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0" i="1">
                <a:solidFill>
                  <a:srgbClr val="0891B2"/>
                </a:solidFill>
                <a:latin typeface="Calibri"/>
              </a:defRPr>
            </a:pPr>
            <a:r>
              <a:t>Lesson: strip all discoverable hints first, then generate instructions for what remains non-obvious.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1A365D"/>
                </a:solidFill>
                <a:latin typeface="Calibri"/>
              </a:defRPr>
            </a:pPr>
            <a:r>
              <a:t>Approach 2: Transcript-Driven Hill-Climbing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320040"/>
            <a:ext cx="2103120" cy="502920"/>
          </a:xfrm>
          <a:prstGeom prst="round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FINAL 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280160"/>
            <a:ext cx="182880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98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Run Haiku with</a:t>
            </a:r>
            <a:br/>
            <a:r>
              <a:t>/init AGENTS.md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280160"/>
            <a:ext cx="182880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98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Sonnet reads</a:t>
            </a:r>
            <a:br/>
            <a:r>
              <a:t>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182880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298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GENERATE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Produce targeted</a:t>
            </a:r>
            <a:br/>
            <a:r>
              <a:t>AGENTS.md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0891B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39" y="1280160"/>
            <a:ext cx="1828800" cy="548640"/>
          </a:xfrm>
          <a:prstGeom prst="round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39" y="12984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GRADE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9" y="19659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4A5A6A"/>
                </a:solidFill>
                <a:latin typeface="Calibri"/>
              </a:defRPr>
            </a:pPr>
            <a:r>
              <a:t>Deterministic</a:t>
            </a:r>
            <a:br/>
            <a:r>
              <a:t>graders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926080"/>
            <a:ext cx="1069848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 i="0">
                <a:solidFill>
                  <a:srgbClr val="1A365D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Weak agent (Haiku)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Makes the AGENTS.md delta visible. Strong models pass regardless.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Doc stripping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Remove README, Doc/, CONTRIBUTING so agents can't shortcut.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JSONL transcripts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Full tool-call-level observability via claude -p stream-json.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 i="0">
                <a:solidFill>
                  <a:srgbClr val="0891B2"/>
                </a:solidFill>
                <a:latin typeface="Calibri"/>
              </a:defRPr>
            </a:pPr>
            <a:r>
              <a:t>Shrink each iteration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406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Target under 60 words. Every line must earn its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1A365D"/>
                </a:solidFill>
                <a:latin typeface="Calibri"/>
              </a:defRPr>
            </a:pPr>
            <a:r>
              <a:t>Architecture: Three Roles, Zero Contamination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74720" cy="731520"/>
          </a:xfrm>
          <a:prstGeom prst="rect">
            <a:avLst/>
          </a:prstGeom>
          <a:solidFill>
            <a:srgbClr val="0E7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EVALUATOR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Scripts (bash, 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Job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Orchestrate trials, run graders, extract metrics from JSONL transcripts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E53E3E"/>
                </a:solidFill>
                <a:latin typeface="Calibri"/>
              </a:defRPr>
            </a:pPr>
            <a:r>
              <a:t>Must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Never execute the build task or leak context to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28016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280160"/>
            <a:ext cx="3474720" cy="731520"/>
          </a:xfrm>
          <a:prstGeom prst="rect">
            <a:avLst/>
          </a:prstGeom>
          <a:solidFill>
            <a:srgbClr val="2C7A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325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286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Haiku (weak)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Execute the build task cold inside an isolated worktree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206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E53E3E"/>
                </a:solidFill>
                <a:latin typeface="Calibri"/>
              </a:defRPr>
            </a:pPr>
            <a:r>
              <a:t>Must NOT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Never see evaluator context, prior results, or other trials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280160"/>
            <a:ext cx="34747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474720" cy="73152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25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2860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514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Sonnet (strong)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0">
                <a:solidFill>
                  <a:srgbClr val="718196"/>
                </a:solidFill>
                <a:latin typeface="Calibri"/>
              </a:defRPr>
            </a:pPr>
            <a:r>
              <a:t>Job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2461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Analyze transcripts, identify failures, produce targeted AGENTS.md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2062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 i="0">
                <a:solidFill>
                  <a:srgbClr val="E53E3E"/>
                </a:solidFill>
                <a:latin typeface="Calibri"/>
              </a:defRPr>
            </a:pPr>
            <a:r>
              <a:t>Must NOT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Never execute the build task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1A365D"/>
                </a:solidFill>
                <a:latin typeface="Calibri"/>
              </a:defRPr>
            </a:pPr>
            <a:r>
              <a:t>Evaluation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Deterministic Graders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1">
                <a:solidFill>
                  <a:srgbClr val="718196"/>
                </a:solidFill>
                <a:latin typeface="Calibri"/>
              </a:defRPr>
            </a:pPr>
            <a:r>
              <a:t>Grade outcomes, not paths. (Anthropic evals blog)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onsolas"/>
              </a:defRPr>
            </a:pPr>
            <a:r>
              <a:t>binary-exists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./python exists in worktree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onsolas"/>
              </a:defRPr>
            </a:pPr>
            <a:r>
              <a:t>functional-test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import ssl, ctypes, sqlite3 succeeds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572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onsolas"/>
              </a:defRPr>
            </a:pPr>
            <a:r>
              <a:t>test-suite-smoke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test_math, test_string, test_list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All must pass for pass@1 = true. No partial credit.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280160"/>
            <a:ext cx="50292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15544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A365D"/>
                </a:solidFill>
              </a:defRPr>
            </a:pPr>
            <a:r>
              <a:t>Metrics from JSONL Transcripts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1">
                <a:solidFill>
                  <a:srgbClr val="718196"/>
                </a:solidFill>
                <a:latin typeface="Calibri"/>
              </a:defRPr>
            </a:pPr>
            <a:r>
              <a:t>Deterministic: same transcript = same numbers, always.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697480"/>
            <a:ext cx="4663440" cy="45720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743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pass@1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743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Binary 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total_tokens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291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Cost proxy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794760"/>
            <a:ext cx="4663440" cy="45720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840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n_tool_calls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840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duration_ms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389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Wall clock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892040"/>
            <a:ext cx="4663440" cy="45720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total_cost_usd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9377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Direct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486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0891B2"/>
                </a:solidFill>
                <a:latin typeface="Consolas"/>
              </a:defRPr>
            </a:pPr>
            <a:r>
              <a:t>n_tool_errors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5486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alibri"/>
              </a:defRPr>
            </a:pPr>
            <a:r>
              <a:t>Resilience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5486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 i="1">
                <a:solidFill>
                  <a:srgbClr val="718196"/>
                </a:solidFill>
                <a:latin typeface="Calibri"/>
              </a:defRPr>
            </a:pPr>
            <a:r>
              <a:t>All extracted by extract_metrics.py from transcript.jsonl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1A365D"/>
                </a:solidFill>
                <a:latin typeface="Calibri"/>
              </a:defRPr>
            </a:pPr>
            <a:r>
              <a:t>Results: Baseline vs Improved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718196"/>
                </a:solidFill>
                <a:latin typeface="Calibri"/>
              </a:defRPr>
            </a:pPr>
            <a:r>
              <a:t>5 trials per condition  ·  all passed  ·  Haiku 4.5 on CPython v3.12.0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3200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 i="0">
                <a:solidFill>
                  <a:srgbClr val="718196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 i="0">
                <a:solidFill>
                  <a:srgbClr val="718196"/>
                </a:solidFill>
                <a:latin typeface="Calibri"/>
              </a:defRPr>
            </a:pPr>
            <a:r>
              <a:t>Baseline (/init, 30w)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 i="0">
                <a:solidFill>
                  <a:srgbClr val="718196"/>
                </a:solidFill>
                <a:latin typeface="Calibri"/>
              </a:defRPr>
            </a:pPr>
            <a:r>
              <a:t>Improved (hill-climbed, 55w)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1" i="0">
                <a:solidFill>
                  <a:srgbClr val="718196"/>
                </a:solidFill>
                <a:latin typeface="Calibri"/>
              </a:defRPr>
            </a:pPr>
            <a:r>
              <a:t>Delta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65960"/>
            <a:ext cx="1033272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075688"/>
            <a:ext cx="10332720" cy="36576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pass@1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5/5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718196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688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avg 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12.6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4.8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688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38A169"/>
                </a:solidFill>
                <a:latin typeface="Calibri"/>
              </a:defRPr>
            </a:pPr>
            <a:r>
              <a:t>↓ 62%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2807208"/>
            <a:ext cx="10332720" cy="36576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8346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avg tool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834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14.4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34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11.6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38A169"/>
                </a:solidFill>
                <a:latin typeface="Calibri"/>
              </a:defRPr>
            </a:pPr>
            <a:r>
              <a:t>↓ 19%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avg total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392,747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344,411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38A169"/>
                </a:solidFill>
                <a:latin typeface="Calibri"/>
              </a:defRPr>
            </a:pPr>
            <a:r>
              <a:t>↓ 12%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538728"/>
            <a:ext cx="10332720" cy="365760"/>
          </a:xfrm>
          <a:prstGeom prst="roundRect">
            <a:avLst/>
          </a:prstGeom>
          <a:solidFill>
            <a:srgbClr val="F7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566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avg wall clock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80.7s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37.7s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38A169"/>
                </a:solidFill>
                <a:latin typeface="Calibri"/>
              </a:defRPr>
            </a:pPr>
            <a:r>
              <a:t>↓ 53%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931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avg cost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0" i="0">
                <a:solidFill>
                  <a:srgbClr val="4A5A6A"/>
                </a:solidFill>
                <a:latin typeface="Calibri"/>
              </a:defRPr>
            </a:pPr>
            <a:r>
              <a:t>$0.090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$0.092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931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400" b="1" i="0">
                <a:solidFill>
                  <a:srgbClr val="718196"/>
                </a:solidFill>
                <a:latin typeface="Calibri"/>
              </a:defRPr>
            </a:pPr>
            <a:r>
              <a:t>~flat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029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 i="0">
                <a:solidFill>
                  <a:srgbClr val="1A365D"/>
                </a:solidFill>
                <a:latin typeface="Calibri"/>
              </a:defRPr>
            </a:pPr>
            <a:r>
              <a:t>Per-Trial Variance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onsolas"/>
              </a:defRPr>
            </a:pPr>
            <a:r>
              <a:t>Baseline turns:  2,  11,  14,  15,  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4A5A6A"/>
                </a:solidFill>
                <a:latin typeface="Consolas"/>
              </a:defRPr>
            </a:pPr>
            <a:r>
              <a:t>Improved turns:  1,   4,   4,   6,  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18196"/>
                </a:solidFill>
                <a:latin typeface="Calibri"/>
              </a:defRPr>
            </a:pPr>
            <a:r>
              <a:t>High variance in baseline — agent sometimes guesses right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760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718196"/>
                </a:solidFill>
                <a:latin typeface="Calibri"/>
              </a:defRPr>
            </a:pPr>
            <a:r>
              <a:t>Tighter distribution with improved — consistent guidance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080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1">
                <a:solidFill>
                  <a:srgbClr val="718196"/>
                </a:solidFill>
                <a:latin typeface="Calibri"/>
              </a:defRPr>
            </a:pPr>
            <a:r>
              <a:t>n=5. With more compute: 50 trials, bootstrap CIs, Mann-Whitney 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 i="0">
                <a:solidFill>
                  <a:srgbClr val="1A365D"/>
                </a:solidFill>
                <a:latin typeface="Calibri"/>
              </a:defRPr>
            </a:pPr>
            <a:r>
              <a:t>Approach 3: Skills + Plugins (No AGENTS.md)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8320" y="320040"/>
            <a:ext cx="2103120" cy="502920"/>
          </a:xfrm>
          <a:prstGeom prst="round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0" y="3474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OUTPERFORMS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548640"/>
          </a:xfrm>
          <a:prstGeom prst="rect">
            <a:avLst/>
          </a:prstGeom>
          <a:solidFill>
            <a:srgbClr val="C5D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1A365D"/>
                </a:solidFill>
                <a:latin typeface="Calibri"/>
              </a:defRPr>
            </a:pPr>
            <a:r>
              <a:t>AGENTS.md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Single monolithic file at repo 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Sequential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363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alibri"/>
              </a:defRPr>
            </a:pPr>
            <a:r>
              <a:t>Agent reads top-to-bottom, follows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Heavy scaffolding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13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alibri"/>
              </a:defRPr>
            </a:pPr>
            <a:r>
              <a:t>Worktrees, transcript logging, graders, hill-climbing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1A1A2E"/>
                </a:solidFill>
                <a:latin typeface="Calibri"/>
              </a:defRPr>
            </a:pPr>
            <a:r>
              <a:t>All-or-nothing context loading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280160"/>
            <a:ext cx="50292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280160"/>
            <a:ext cx="5029200" cy="548640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984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Skills + Plugins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Modular, composable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880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Parallel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36391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alibri"/>
              </a:defRPr>
            </a:pPr>
            <a:r>
              <a:t>Skills trigger independently, run in parallel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Minimal scaffolding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13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alibri"/>
              </a:defRPr>
            </a:pPr>
            <a:r>
              <a:t>Built-in triggering, progressive disclosure, bundled 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434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Selective context loading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6908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alibri"/>
              </a:defRPr>
            </a:pPr>
            <a:r>
              <a:t>Only loads what's relevant to the current task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212080"/>
            <a:ext cx="10698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Used in practice: claude-md-management plugin (Anthropic) — audits CLAUDE.md quality + captures session learnings via dual skill/command pattern. No heavy eval harness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61447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Skills+plugins consistently outperforms: better outcomes, faster execution, less infrastructure overhead.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Final AGENTS.md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1">
                <a:solidFill>
                  <a:srgbClr val="00B4D8"/>
                </a:solidFill>
                <a:latin typeface="Calibri"/>
              </a:defRPr>
            </a:pPr>
            <a:r>
              <a:t>Hill-climbed from transcript analysis. Every line earns its place.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18196"/>
                </a:solidFill>
                <a:latin typeface="Consolas"/>
              </a:defRPr>
            </a:pPr>
            <a:r>
              <a:t>AGENTS.md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1100" b="0" i="0">
                <a:solidFill>
                  <a:srgbClr val="718196"/>
                </a:solidFill>
                <a:latin typeface="Consolas"/>
              </a:defRPr>
            </a:pPr>
            <a:r>
              <a:t>~55 words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FFD700"/>
                </a:solidFill>
                <a:latin typeface="Consolas"/>
              </a:defRPr>
            </a:pPr>
            <a:r>
              <a:t># Build CPython from Source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Prerequisites are already installed.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Source build_env.sh before every build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command — it sets CPPFLAGS, LDFLAGS, and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CPYTHON_CONFIGURE_EXTRA (includes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--with-openssl) for Homebrew-installed deps.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300" b="0">
                <a:solidFill>
                  <a:srgbClr val="7EC899"/>
                </a:solidFill>
                <a:latin typeface="Consolas"/>
              </a:defRPr>
            </a:pPr>
            <a:r>
              <a:t>source ./build_env.sh</a:t>
            </a:r>
          </a:p>
          <a:p>
            <a:pPr>
              <a:spcAft>
                <a:spcPts val="100"/>
              </a:spcAft>
              <a:defRPr sz="1300" b="0">
                <a:solidFill>
                  <a:srgbClr val="7EC899"/>
                </a:solidFill>
                <a:latin typeface="Consolas"/>
              </a:defRPr>
            </a:pPr>
            <a:r>
              <a:t>./configure $CPYTHON_CONFIGURE_EXTRA</a:t>
            </a:r>
          </a:p>
          <a:p>
            <a:pPr>
              <a:spcAft>
                <a:spcPts val="100"/>
              </a:spcAft>
              <a:defRPr sz="1300" b="0">
                <a:solidFill>
                  <a:srgbClr val="7EC899"/>
                </a:solidFill>
                <a:latin typeface="Consolas"/>
              </a:defRPr>
            </a:pPr>
            <a:r>
              <a:t>make -j$(sysctl -n hw.ncpu)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300" b="1">
                <a:solidFill>
                  <a:srgbClr val="FFFFFF"/>
                </a:solidFill>
                <a:latin typeface="Consolas"/>
              </a:defRPr>
            </a:pPr>
            <a:r>
              <a:t>Verify:</a:t>
            </a:r>
          </a:p>
          <a:p>
            <a:pPr>
              <a:spcAft>
                <a:spcPts val="100"/>
              </a:spcAft>
              <a:defRPr sz="1300" b="0">
                <a:solidFill>
                  <a:srgbClr val="7EC899"/>
                </a:solidFill>
                <a:latin typeface="Consolas"/>
              </a:defRPr>
            </a:pPr>
            <a:r>
              <a:t>./python.exe -c "import ssl, sqlite3,</a:t>
            </a:r>
          </a:p>
          <a:p>
            <a:pPr>
              <a:spcAft>
                <a:spcPts val="100"/>
              </a:spcAft>
              <a:defRPr sz="1300" b="0">
                <a:solidFill>
                  <a:srgbClr val="7EC899"/>
                </a:solidFill>
                <a:latin typeface="Consolas"/>
              </a:defRPr>
            </a:pPr>
            <a:r>
              <a:t>  readline; print('OK')"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100"/>
              </a:spcAft>
              <a:defRPr sz="1300" b="0">
                <a:solidFill>
                  <a:srgbClr val="FFB86C"/>
                </a:solidFill>
                <a:latin typeface="Consolas"/>
              </a:defRPr>
            </a:pPr>
            <a:r>
              <a:t>The built interpreter is ./python.exe</a:t>
            </a:r>
          </a:p>
          <a:p>
            <a:pPr>
              <a:spcAft>
                <a:spcPts val="100"/>
              </a:spcAft>
              <a:defRPr sz="1300" b="0">
                <a:solidFill>
                  <a:srgbClr val="FFB86C"/>
                </a:solidFill>
                <a:latin typeface="Consolas"/>
              </a:defRPr>
            </a:pPr>
            <a:r>
              <a:t>(not ./python).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600" b="1" i="0">
                <a:solidFill>
                  <a:srgbClr val="1A365D"/>
                </a:solidFill>
                <a:latin typeface="Calibri"/>
              </a:defRPr>
            </a:pPr>
            <a:r>
              <a:t>Tradeoffs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 i="0">
                <a:solidFill>
                  <a:srgbClr val="1A365D"/>
                </a:solidFill>
                <a:latin typeface="Calibri"/>
              </a:defRPr>
            </a:pPr>
            <a:r>
              <a:t>Tradeoffs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Weak agent (Haiku) for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75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1">
                <a:solidFill>
                  <a:srgbClr val="718196"/>
                </a:solidFill>
                <a:latin typeface="Calibri"/>
              </a:defRPr>
            </a:pPr>
            <a:r>
              <a:t>May not reflect real-world usage with Sonnet/Opus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Single task (CPython build)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90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1">
                <a:solidFill>
                  <a:srgbClr val="718196"/>
                </a:solidFill>
                <a:latin typeface="Calibri"/>
              </a:defRPr>
            </a:pPr>
            <a:r>
              <a:t>Unknown if approach generalizes to other repos/tasks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Deterministic graders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044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1">
                <a:solidFill>
                  <a:srgbClr val="718196"/>
                </a:solidFill>
                <a:latin typeface="Calibri"/>
              </a:defRPr>
            </a:pPr>
            <a:r>
              <a:t>Can't evaluate code quality, style, or convention adherence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Doc stripping for fair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18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1">
                <a:solidFill>
                  <a:srgbClr val="718196"/>
                </a:solidFill>
                <a:latin typeface="Calibri"/>
              </a:defRPr>
            </a:pPr>
            <a:r>
              <a:t>Agents in production will have access to those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1" i="0">
                <a:solidFill>
                  <a:srgbClr val="1A365D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373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Multi-task eval suites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75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Test AGENTS.md across build, test, lint, and refactor tasks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6517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Skills+plugins hybrid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Combine AGENTS.md for repo context with skills for task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5661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611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Model-based graders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9044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Add LLM-as-judge for code quality alongside deterministic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48056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0891B2"/>
                </a:solidFill>
                <a:latin typeface="Calibri"/>
              </a:defRPr>
            </a:pPr>
            <a:r>
              <a:t>Cross-repo 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8188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4A5A6A"/>
                </a:solidFill>
                <a:latin typeface="Calibri"/>
              </a:defRPr>
            </a:pPr>
            <a:r>
              <a:t>Can an AGENTS.md approach trained on CPython help with Node.js or Rust?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FFFFFF"/>
                </a:solidFill>
                <a:latin typeface="Calibri"/>
              </a:defRPr>
            </a:pPr>
            <a:r>
              <a:t>Core insight: encode what agents can't discover on their own. Better yet, use skills+plugins to avoid the monolith entirely.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 i="0">
                <a:solidFill>
                  <a:srgbClr val="8A9AB5"/>
                </a:solidFill>
                <a:latin typeface="Calibri"/>
              </a:defRPr>
            </a:pPr>
            <a:r>
              <a:t>The eval harness, scripts, and AGENTS.md are all packaged as a .skill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0" i="0">
                <a:solidFill>
                  <a:srgbClr val="FFFFFF"/>
                </a:solidFill>
                <a:latin typeface="Calibri"/>
              </a:defRPr>
            </a:pPr>
            <a:r>
              <a:t>Tapojit Debnath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00B4D8"/>
                </a:solidFill>
                <a:latin typeface="Calibri"/>
              </a:defRPr>
            </a:pPr>
            <a:r>
              <a:t>tapojitdebnath@gmail.com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45720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